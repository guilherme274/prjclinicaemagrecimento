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10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mailto:halrangel@yahoo.com.br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Clínica de Emagrecimento</a:t>
            </a:r>
            <a:endParaRPr lang="pt-B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8035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Straight Connector 66"/>
          <p:cNvCxnSpPr/>
          <p:nvPr/>
        </p:nvCxnSpPr>
        <p:spPr>
          <a:xfrm>
            <a:off x="8727489" y="3551321"/>
            <a:ext cx="47615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5569540" y="3689080"/>
            <a:ext cx="0" cy="2779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5472855" y="3966997"/>
            <a:ext cx="188740" cy="275010"/>
            <a:chOff x="1614628" y="3986214"/>
            <a:chExt cx="73678" cy="113719"/>
          </a:xfrm>
        </p:grpSpPr>
        <p:sp>
          <p:nvSpPr>
            <p:cNvPr id="17" name="Isosceles Triangle 16"/>
            <p:cNvSpPr/>
            <p:nvPr/>
          </p:nvSpPr>
          <p:spPr>
            <a:xfrm>
              <a:off x="1614628" y="3986214"/>
              <a:ext cx="73678" cy="57150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Isosceles Triangle 17"/>
            <p:cNvSpPr/>
            <p:nvPr/>
          </p:nvSpPr>
          <p:spPr>
            <a:xfrm rot="10800000">
              <a:off x="1614628" y="4042783"/>
              <a:ext cx="73678" cy="57150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8" name="Group 27"/>
          <p:cNvGrpSpPr/>
          <p:nvPr/>
        </p:nvGrpSpPr>
        <p:grpSpPr>
          <a:xfrm rot="16200000">
            <a:off x="4391627" y="2493996"/>
            <a:ext cx="113587" cy="296575"/>
            <a:chOff x="1230914" y="3556091"/>
            <a:chExt cx="113587" cy="296575"/>
          </a:xfrm>
        </p:grpSpPr>
        <p:cxnSp>
          <p:nvCxnSpPr>
            <p:cNvPr id="29" name="Straight Connector 28"/>
            <p:cNvCxnSpPr/>
            <p:nvPr/>
          </p:nvCxnSpPr>
          <p:spPr>
            <a:xfrm flipV="1">
              <a:off x="1287709" y="3574749"/>
              <a:ext cx="0" cy="27791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Group 29"/>
            <p:cNvGrpSpPr/>
            <p:nvPr/>
          </p:nvGrpSpPr>
          <p:grpSpPr>
            <a:xfrm>
              <a:off x="1230914" y="3556091"/>
              <a:ext cx="113587" cy="150190"/>
              <a:chOff x="1614628" y="3986214"/>
              <a:chExt cx="73678" cy="113719"/>
            </a:xfrm>
          </p:grpSpPr>
          <p:sp>
            <p:nvSpPr>
              <p:cNvPr id="31" name="Isosceles Triangle 30"/>
              <p:cNvSpPr/>
              <p:nvPr/>
            </p:nvSpPr>
            <p:spPr>
              <a:xfrm>
                <a:off x="1614628" y="3986214"/>
                <a:ext cx="73678" cy="57150"/>
              </a:xfrm>
              <a:prstGeom prst="triangle">
                <a:avLst/>
              </a:prstGeom>
              <a:solidFill>
                <a:schemeClr val="tx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2" name="Isosceles Triangle 31"/>
              <p:cNvSpPr/>
              <p:nvPr/>
            </p:nvSpPr>
            <p:spPr>
              <a:xfrm rot="10800000">
                <a:off x="1614628" y="4042783"/>
                <a:ext cx="73678" cy="57150"/>
              </a:xfrm>
              <a:prstGeom prst="triangle">
                <a:avLst/>
              </a:prstGeom>
              <a:solidFill>
                <a:schemeClr val="tx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3" name="Group 22"/>
          <p:cNvGrpSpPr/>
          <p:nvPr/>
        </p:nvGrpSpPr>
        <p:grpSpPr>
          <a:xfrm rot="5400000">
            <a:off x="2624591" y="2492456"/>
            <a:ext cx="113587" cy="305662"/>
            <a:chOff x="1230914" y="3556091"/>
            <a:chExt cx="113587" cy="296575"/>
          </a:xfrm>
        </p:grpSpPr>
        <p:cxnSp>
          <p:nvCxnSpPr>
            <p:cNvPr id="24" name="Straight Connector 23"/>
            <p:cNvCxnSpPr/>
            <p:nvPr/>
          </p:nvCxnSpPr>
          <p:spPr>
            <a:xfrm flipV="1">
              <a:off x="1287709" y="3574749"/>
              <a:ext cx="0" cy="27791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>
            <a:xfrm>
              <a:off x="1230914" y="3556091"/>
              <a:ext cx="113587" cy="150190"/>
              <a:chOff x="1614628" y="3986214"/>
              <a:chExt cx="73678" cy="113719"/>
            </a:xfrm>
          </p:grpSpPr>
          <p:sp>
            <p:nvSpPr>
              <p:cNvPr id="26" name="Isosceles Triangle 25"/>
              <p:cNvSpPr/>
              <p:nvPr/>
            </p:nvSpPr>
            <p:spPr>
              <a:xfrm>
                <a:off x="1614628" y="3986214"/>
                <a:ext cx="73678" cy="57150"/>
              </a:xfrm>
              <a:prstGeom prst="triangle">
                <a:avLst/>
              </a:prstGeom>
              <a:solidFill>
                <a:schemeClr val="tx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7" name="Isosceles Triangle 26"/>
              <p:cNvSpPr/>
              <p:nvPr/>
            </p:nvSpPr>
            <p:spPr>
              <a:xfrm rot="10800000">
                <a:off x="1614628" y="4042783"/>
                <a:ext cx="73678" cy="57150"/>
              </a:xfrm>
              <a:prstGeom prst="triangle">
                <a:avLst/>
              </a:prstGeom>
              <a:solidFill>
                <a:schemeClr val="tx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Diagrama de classes *</a:t>
            </a:r>
            <a:endParaRPr lang="pt-BR" dirty="0"/>
          </a:p>
        </p:txBody>
      </p:sp>
      <p:sp>
        <p:nvSpPr>
          <p:cNvPr id="4" name="Rectangle 3"/>
          <p:cNvSpPr/>
          <p:nvPr/>
        </p:nvSpPr>
        <p:spPr>
          <a:xfrm>
            <a:off x="4965279" y="4253128"/>
            <a:ext cx="2588046" cy="46880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solidFill>
                  <a:schemeClr val="bg2"/>
                </a:solidFill>
              </a:rPr>
              <a:t>Clinica</a:t>
            </a:r>
            <a:endParaRPr lang="pt-BR" b="1" dirty="0">
              <a:solidFill>
                <a:schemeClr val="bg2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896811" y="3306645"/>
            <a:ext cx="1370640" cy="40964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solidFill>
                  <a:schemeClr val="bg2"/>
                </a:solidFill>
              </a:rPr>
              <a:t>Paciente</a:t>
            </a:r>
            <a:endParaRPr lang="pt-BR" b="1" dirty="0">
              <a:solidFill>
                <a:schemeClr val="bg2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29866" y="3306641"/>
            <a:ext cx="1123459" cy="40964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solidFill>
                  <a:schemeClr val="bg2"/>
                </a:solidFill>
              </a:rPr>
              <a:t>Usuário</a:t>
            </a:r>
            <a:endParaRPr lang="pt-BR" b="1" dirty="0">
              <a:solidFill>
                <a:schemeClr val="bg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836177" y="2441115"/>
            <a:ext cx="1451295" cy="37828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solidFill>
                  <a:schemeClr val="bg2"/>
                </a:solidFill>
              </a:rPr>
              <a:t>Pessoa</a:t>
            </a:r>
            <a:endParaRPr lang="pt-BR" b="1" dirty="0">
              <a:solidFill>
                <a:schemeClr val="bg2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5581475" y="3096857"/>
            <a:ext cx="656" cy="2227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6936735" y="3083929"/>
            <a:ext cx="3102" cy="2227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619500" y="3349377"/>
            <a:ext cx="904567" cy="36690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solidFill>
                  <a:schemeClr val="bg2"/>
                </a:solidFill>
              </a:rPr>
              <a:t>IMC</a:t>
            </a:r>
            <a:endParaRPr lang="pt-BR" b="1" dirty="0">
              <a:solidFill>
                <a:schemeClr val="bg2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596708" y="2439934"/>
            <a:ext cx="786826" cy="3782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solidFill>
                  <a:schemeClr val="bg2"/>
                </a:solidFill>
              </a:rPr>
              <a:t>Cpf</a:t>
            </a:r>
            <a:endParaRPr lang="pt-BR" b="1" dirty="0">
              <a:solidFill>
                <a:schemeClr val="bg2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601542" y="2422091"/>
            <a:ext cx="925347" cy="3857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solidFill>
                  <a:schemeClr val="bg2"/>
                </a:solidFill>
              </a:rPr>
              <a:t>Email</a:t>
            </a:r>
            <a:endParaRPr lang="pt-BR" b="1" dirty="0">
              <a:solidFill>
                <a:schemeClr val="bg2"/>
              </a:solidFill>
            </a:endParaRPr>
          </a:p>
        </p:txBody>
      </p:sp>
      <p:cxnSp>
        <p:nvCxnSpPr>
          <p:cNvPr id="40" name="Straight Arrow Connector 39"/>
          <p:cNvCxnSpPr/>
          <p:nvPr/>
        </p:nvCxnSpPr>
        <p:spPr>
          <a:xfrm flipH="1">
            <a:off x="3561496" y="2833944"/>
            <a:ext cx="656" cy="2227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3561496" y="3052765"/>
            <a:ext cx="3375239" cy="142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/>
          <p:cNvGrpSpPr/>
          <p:nvPr/>
        </p:nvGrpSpPr>
        <p:grpSpPr>
          <a:xfrm rot="5400000">
            <a:off x="4653645" y="3370264"/>
            <a:ext cx="113587" cy="305662"/>
            <a:chOff x="1230914" y="3556091"/>
            <a:chExt cx="113587" cy="296575"/>
          </a:xfrm>
        </p:grpSpPr>
        <p:cxnSp>
          <p:nvCxnSpPr>
            <p:cNvPr id="45" name="Straight Connector 44"/>
            <p:cNvCxnSpPr/>
            <p:nvPr/>
          </p:nvCxnSpPr>
          <p:spPr>
            <a:xfrm flipV="1">
              <a:off x="1287709" y="3574749"/>
              <a:ext cx="0" cy="27791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Group 45"/>
            <p:cNvGrpSpPr/>
            <p:nvPr/>
          </p:nvGrpSpPr>
          <p:grpSpPr>
            <a:xfrm>
              <a:off x="1230914" y="3556091"/>
              <a:ext cx="113587" cy="150190"/>
              <a:chOff x="1614628" y="3986214"/>
              <a:chExt cx="73678" cy="113719"/>
            </a:xfrm>
          </p:grpSpPr>
          <p:sp>
            <p:nvSpPr>
              <p:cNvPr id="47" name="Isosceles Triangle 46"/>
              <p:cNvSpPr/>
              <p:nvPr/>
            </p:nvSpPr>
            <p:spPr>
              <a:xfrm>
                <a:off x="1614628" y="3986214"/>
                <a:ext cx="73678" cy="57150"/>
              </a:xfrm>
              <a:prstGeom prst="triangle">
                <a:avLst/>
              </a:prstGeom>
              <a:solidFill>
                <a:schemeClr val="tx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8" name="Isosceles Triangle 47"/>
              <p:cNvSpPr/>
              <p:nvPr/>
            </p:nvSpPr>
            <p:spPr>
              <a:xfrm rot="10800000">
                <a:off x="1614628" y="4042783"/>
                <a:ext cx="73678" cy="57150"/>
              </a:xfrm>
              <a:prstGeom prst="triangle">
                <a:avLst/>
              </a:prstGeom>
              <a:solidFill>
                <a:schemeClr val="tx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49" name="Group 48"/>
          <p:cNvGrpSpPr/>
          <p:nvPr/>
        </p:nvGrpSpPr>
        <p:grpSpPr>
          <a:xfrm>
            <a:off x="6842365" y="3955874"/>
            <a:ext cx="188740" cy="275010"/>
            <a:chOff x="1614628" y="3986214"/>
            <a:chExt cx="73678" cy="113719"/>
          </a:xfrm>
        </p:grpSpPr>
        <p:sp>
          <p:nvSpPr>
            <p:cNvPr id="50" name="Isosceles Triangle 49"/>
            <p:cNvSpPr/>
            <p:nvPr/>
          </p:nvSpPr>
          <p:spPr>
            <a:xfrm>
              <a:off x="1614628" y="3986214"/>
              <a:ext cx="73678" cy="57150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1" name="Isosceles Triangle 50"/>
            <p:cNvSpPr/>
            <p:nvPr/>
          </p:nvSpPr>
          <p:spPr>
            <a:xfrm rot="10800000">
              <a:off x="1614628" y="4042783"/>
              <a:ext cx="73678" cy="57150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cxnSp>
        <p:nvCxnSpPr>
          <p:cNvPr id="52" name="Straight Connector 51"/>
          <p:cNvCxnSpPr/>
          <p:nvPr/>
        </p:nvCxnSpPr>
        <p:spPr>
          <a:xfrm flipV="1">
            <a:off x="6936734" y="3716286"/>
            <a:ext cx="0" cy="2779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7882686" y="3333950"/>
            <a:ext cx="926803" cy="3782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solidFill>
                  <a:schemeClr val="bg2"/>
                </a:solidFill>
              </a:rPr>
              <a:t>Perfil</a:t>
            </a:r>
            <a:endParaRPr lang="pt-BR" b="1" dirty="0">
              <a:solidFill>
                <a:schemeClr val="bg2"/>
              </a:solidFill>
            </a:endParaRPr>
          </a:p>
        </p:txBody>
      </p:sp>
      <p:grpSp>
        <p:nvGrpSpPr>
          <p:cNvPr id="55" name="Group 54"/>
          <p:cNvGrpSpPr/>
          <p:nvPr/>
        </p:nvGrpSpPr>
        <p:grpSpPr>
          <a:xfrm rot="16200000">
            <a:off x="7658946" y="3384543"/>
            <a:ext cx="113587" cy="296575"/>
            <a:chOff x="1230914" y="3556091"/>
            <a:chExt cx="113587" cy="296575"/>
          </a:xfrm>
        </p:grpSpPr>
        <p:cxnSp>
          <p:nvCxnSpPr>
            <p:cNvPr id="56" name="Straight Connector 55"/>
            <p:cNvCxnSpPr/>
            <p:nvPr/>
          </p:nvCxnSpPr>
          <p:spPr>
            <a:xfrm flipV="1">
              <a:off x="1287709" y="3574749"/>
              <a:ext cx="0" cy="27791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7" name="Group 56"/>
            <p:cNvGrpSpPr/>
            <p:nvPr/>
          </p:nvGrpSpPr>
          <p:grpSpPr>
            <a:xfrm>
              <a:off x="1230914" y="3556091"/>
              <a:ext cx="113587" cy="150190"/>
              <a:chOff x="1614628" y="3986214"/>
              <a:chExt cx="73678" cy="113719"/>
            </a:xfrm>
          </p:grpSpPr>
          <p:sp>
            <p:nvSpPr>
              <p:cNvPr id="58" name="Isosceles Triangle 57"/>
              <p:cNvSpPr/>
              <p:nvPr/>
            </p:nvSpPr>
            <p:spPr>
              <a:xfrm>
                <a:off x="1614628" y="3986214"/>
                <a:ext cx="73678" cy="57150"/>
              </a:xfrm>
              <a:prstGeom prst="triangle">
                <a:avLst/>
              </a:prstGeom>
              <a:solidFill>
                <a:schemeClr val="tx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59" name="Isosceles Triangle 58"/>
              <p:cNvSpPr/>
              <p:nvPr/>
            </p:nvSpPr>
            <p:spPr>
              <a:xfrm rot="10800000">
                <a:off x="1614628" y="4042783"/>
                <a:ext cx="73678" cy="57150"/>
              </a:xfrm>
              <a:prstGeom prst="triangle">
                <a:avLst/>
              </a:prstGeom>
              <a:solidFill>
                <a:schemeClr val="tx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60" name="Group 59"/>
          <p:cNvGrpSpPr/>
          <p:nvPr/>
        </p:nvGrpSpPr>
        <p:grpSpPr>
          <a:xfrm>
            <a:off x="6842364" y="3955874"/>
            <a:ext cx="188740" cy="275010"/>
            <a:chOff x="1614628" y="3986214"/>
            <a:chExt cx="73678" cy="113719"/>
          </a:xfrm>
        </p:grpSpPr>
        <p:sp>
          <p:nvSpPr>
            <p:cNvPr id="61" name="Isosceles Triangle 60"/>
            <p:cNvSpPr/>
            <p:nvPr/>
          </p:nvSpPr>
          <p:spPr>
            <a:xfrm>
              <a:off x="1614628" y="3986214"/>
              <a:ext cx="73678" cy="57150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2" name="Isosceles Triangle 61"/>
            <p:cNvSpPr/>
            <p:nvPr/>
          </p:nvSpPr>
          <p:spPr>
            <a:xfrm rot="10800000">
              <a:off x="1614628" y="4042783"/>
              <a:ext cx="73678" cy="57150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3" name="Picture 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523" y="3938410"/>
            <a:ext cx="219106" cy="314369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7671" y="3938410"/>
            <a:ext cx="219106" cy="314369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8069592" y="5895975"/>
            <a:ext cx="2877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* Diagrama simplificado</a:t>
            </a:r>
            <a:endParaRPr lang="pt-BR" dirty="0"/>
          </a:p>
        </p:txBody>
      </p:sp>
      <p:sp>
        <p:nvSpPr>
          <p:cNvPr id="66" name="Rectangle 65"/>
          <p:cNvSpPr/>
          <p:nvPr/>
        </p:nvSpPr>
        <p:spPr>
          <a:xfrm>
            <a:off x="9138850" y="3345281"/>
            <a:ext cx="1503653" cy="3782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solidFill>
                  <a:schemeClr val="bg2"/>
                </a:solidFill>
              </a:rPr>
              <a:t>Permissao</a:t>
            </a:r>
            <a:endParaRPr lang="pt-BR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820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 Classe Pessoa</a:t>
            </a:r>
            <a:endParaRPr lang="pt-BR" dirty="0"/>
          </a:p>
        </p:txBody>
      </p:sp>
      <p:sp>
        <p:nvSpPr>
          <p:cNvPr id="7" name="Rectangle 6"/>
          <p:cNvSpPr/>
          <p:nvPr/>
        </p:nvSpPr>
        <p:spPr>
          <a:xfrm>
            <a:off x="790575" y="1152983"/>
            <a:ext cx="10753725" cy="544764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sz="12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[</a:t>
            </a:r>
            <a:r>
              <a:rPr lang="pt-B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Serializable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abstract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Pessoa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pt-B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IComparable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Pessoa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protected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Pessoa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nome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sobrenome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Cpf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cpf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email)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Nome = nome;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Sobrenome = sobrenome;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Cpf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cpf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==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?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Cpf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():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cpf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Email = email ==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?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: email;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Exception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throw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Nome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 =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.Empty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Sobrenome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 =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.Empty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[</a:t>
            </a:r>
            <a:r>
              <a:rPr lang="pt-B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JsonInclude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Cpf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Cpf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=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Cpf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[</a:t>
            </a:r>
            <a:r>
              <a:rPr lang="pt-B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JsonInclude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Email =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CompareTo(</a:t>
            </a:r>
            <a:r>
              <a:rPr lang="pt-B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Pessoa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other)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Cpf.cpf.CompareTo(other !=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&amp;&amp; other.Cpf !=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? other.Cpf.cpf : </a:t>
            </a:r>
            <a:r>
              <a:rPr lang="pt-B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.Empty);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88402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 Classe Cpf (Simplificada)</a:t>
            </a:r>
            <a:endParaRPr lang="pt-BR" dirty="0"/>
          </a:p>
        </p:txBody>
      </p:sp>
      <p:sp>
        <p:nvSpPr>
          <p:cNvPr id="4" name="Rectangle 3"/>
          <p:cNvSpPr/>
          <p:nvPr/>
        </p:nvSpPr>
        <p:spPr>
          <a:xfrm>
            <a:off x="646110" y="1313875"/>
            <a:ext cx="10567989" cy="523989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[</a:t>
            </a:r>
            <a:r>
              <a:rPr lang="pt-B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Serializable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Cpf</a:t>
            </a:r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[</a:t>
            </a:r>
            <a:r>
              <a:rPr lang="pt-B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JsonInclude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cpfLocal = 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""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[</a:t>
            </a:r>
            <a:r>
              <a:rPr lang="pt-B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JsonIgnore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cpf 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cpfLocal; } 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{                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(!Valida(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throw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ArgumentException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$"Erro de sistema: O CPF passado '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 é Inválido!"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cpfLocal = Formata(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                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 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Cpf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cpfLocal = 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""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Formata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cpf</a:t>
            </a:r>
            <a:r>
              <a:rPr lang="en-US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pt-BR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// Código de Formatar</a:t>
            </a:r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bool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Valida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cpf</a:t>
            </a:r>
            <a:r>
              <a:rPr lang="en-US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pt-BR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pt-BR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// Código de validar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05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endParaRPr lang="pt-BR" sz="1050" dirty="0"/>
          </a:p>
        </p:txBody>
      </p:sp>
    </p:spTree>
    <p:extLst>
      <p:ext uri="{BB962C8B-B14F-4D97-AF65-F5344CB8AC3E}">
        <p14:creationId xmlns:p14="http://schemas.microsoft.com/office/powerpoint/2010/main" val="1803136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56982"/>
          </a:xfrm>
        </p:spPr>
        <p:txBody>
          <a:bodyPr/>
          <a:lstStyle/>
          <a:p>
            <a:r>
              <a:rPr lang="pt-BR" dirty="0" smtClean="0"/>
              <a:t>A Classe Email (Simplificada)</a:t>
            </a:r>
            <a:endParaRPr lang="pt-BR" dirty="0"/>
          </a:p>
        </p:txBody>
      </p:sp>
      <p:sp>
        <p:nvSpPr>
          <p:cNvPr id="4" name="Rectangle 3"/>
          <p:cNvSpPr/>
          <p:nvPr/>
        </p:nvSpPr>
        <p:spPr>
          <a:xfrm>
            <a:off x="646111" y="1216065"/>
            <a:ext cx="10618789" cy="489364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pt-B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Serializable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[</a:t>
            </a:r>
            <a:r>
              <a:rPr lang="pt-B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JsonInclude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emailLocal = 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""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[</a:t>
            </a:r>
            <a:r>
              <a:rPr lang="pt-B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JsonIgnore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email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emailLocal; }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emailLocal =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(!Valida())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throw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ArgumentException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$"Erro de sistema: O email passado '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{email}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 é Inválido!"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emailLocal = 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""</a:t>
            </a:r>
            <a:r>
              <a:rPr lang="pt-BR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      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bool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Valida()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2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Código de validar email</a:t>
            </a:r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690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 Classe Usuário</a:t>
            </a:r>
            <a:endParaRPr lang="pt-BR" dirty="0"/>
          </a:p>
        </p:txBody>
      </p:sp>
      <p:sp>
        <p:nvSpPr>
          <p:cNvPr id="4" name="Rectangle 3"/>
          <p:cNvSpPr/>
          <p:nvPr/>
        </p:nvSpPr>
        <p:spPr>
          <a:xfrm>
            <a:off x="355600" y="1152983"/>
            <a:ext cx="8704510" cy="5509200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pt-BR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Serializable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Usuario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pt-BR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Pessoa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IComparable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Usuario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[</a:t>
            </a:r>
            <a:r>
              <a:rPr lang="pt-BR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JsonInclude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Id;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[</a:t>
            </a:r>
            <a:r>
              <a:rPr lang="pt-BR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JsonInclude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Login;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[</a:t>
            </a:r>
            <a:r>
              <a:rPr lang="pt-BR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JsonInclude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pt-BR" sz="105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Hash;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[</a:t>
            </a:r>
            <a:r>
              <a:rPr lang="pt-BR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JsonInclude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Perfil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Perfil</a:t>
            </a:r>
            <a:r>
              <a:rPr lang="pt-BR" sz="105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contador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0;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Usuario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nome</a:t>
            </a:r>
            <a:r>
              <a:rPr lang="pt-BR" sz="105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sobrenome, </a:t>
            </a:r>
            <a:r>
              <a:rPr lang="pt-BR" sz="1050" dirty="0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Cpf</a:t>
            </a:r>
            <a:r>
              <a:rPr lang="pt-BR" sz="105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cpf, </a:t>
            </a:r>
            <a:r>
              <a:rPr lang="pt-BR" sz="1050" dirty="0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105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105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Perfil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perfil</a:t>
            </a:r>
            <a:r>
              <a:rPr lang="pt-BR" sz="105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login</a:t>
            </a:r>
            <a:r>
              <a:rPr lang="pt-BR" sz="105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base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(nome, sobrenome, cpf, email</a:t>
            </a:r>
            <a:r>
              <a:rPr lang="pt-BR" sz="105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</a:t>
            </a:r>
            <a:r>
              <a:rPr lang="pt-BR" sz="105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105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Id = (contador++).ToString(</a:t>
            </a:r>
            <a:r>
              <a:rPr lang="pt-BR" sz="105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"D4"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Perfil = perfil;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Login = login;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Hash = MyHash.GerarSha256(cpf.cpf</a:t>
            </a:r>
            <a:r>
              <a:rPr lang="pt-BR" sz="105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05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  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Exception</a:t>
            </a:r>
            <a:r>
              <a:rPr lang="pt-BR" sz="105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 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throw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bool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ValidaUsuarioSenha(</a:t>
            </a:r>
            <a:r>
              <a:rPr lang="pt-BR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login, </a:t>
            </a:r>
            <a:r>
              <a:rPr lang="pt-BR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Senha</a:t>
            </a:r>
            <a:r>
              <a:rPr lang="pt-BR" sz="105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 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(login != Login || 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Senha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05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pt-BR" sz="105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 = </a:t>
            </a:r>
            <a:r>
              <a:rPr lang="pt-BR" sz="105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MyHash.GerarSha256(Senha);</a:t>
            </a:r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var == Hash;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CompareTo(</a:t>
            </a:r>
            <a:r>
              <a:rPr lang="pt-BR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Usuario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other</a:t>
            </a:r>
            <a:r>
              <a:rPr lang="pt-BR" sz="105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 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other !=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? </a:t>
            </a:r>
            <a:r>
              <a:rPr lang="en-US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.Id.CompareTo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other.Id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: -1;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05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651071" y="444042"/>
            <a:ext cx="4818078" cy="2200602"/>
          </a:xfrm>
          <a:prstGeom prst="rect">
            <a:avLst/>
          </a:prstGeom>
          <a:solidFill>
            <a:schemeClr val="tx1"/>
          </a:solidFill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MyHash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GerarSha256(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texto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{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SHA256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sha256 = </a:t>
            </a:r>
            <a:r>
              <a:rPr lang="pt-BR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SHA256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.Create())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{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byte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bytes = </a:t>
            </a:r>
            <a:r>
              <a:rPr lang="pt-BR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Encoding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.UTF8.GetBytes(texto);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byte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hash = sha256.ComputeHash(bytes);</a:t>
            </a:r>
          </a:p>
          <a:p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Convert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.ToHexString(hash);  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}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}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</a:t>
            </a:r>
            <a:endParaRPr lang="pt-BR" sz="1050" dirty="0"/>
          </a:p>
        </p:txBody>
      </p:sp>
    </p:spTree>
    <p:extLst>
      <p:ext uri="{BB962C8B-B14F-4D97-AF65-F5344CB8AC3E}">
        <p14:creationId xmlns:p14="http://schemas.microsoft.com/office/powerpoint/2010/main" val="1743464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11" y="122518"/>
            <a:ext cx="10771189" cy="779182"/>
          </a:xfrm>
        </p:spPr>
        <p:txBody>
          <a:bodyPr/>
          <a:lstStyle/>
          <a:p>
            <a:r>
              <a:rPr lang="pt-BR" dirty="0" smtClean="0"/>
              <a:t>A Classe Perfil (Para ser completada)</a:t>
            </a:r>
            <a:endParaRPr lang="pt-BR" dirty="0"/>
          </a:p>
        </p:txBody>
      </p:sp>
      <p:sp>
        <p:nvSpPr>
          <p:cNvPr id="6" name="Rectangle 5"/>
          <p:cNvSpPr/>
          <p:nvPr/>
        </p:nvSpPr>
        <p:spPr>
          <a:xfrm>
            <a:off x="366711" y="810191"/>
            <a:ext cx="8492063" cy="5632311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sz="8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</a:t>
            </a:r>
            <a:r>
              <a:rPr lang="pt-BR" sz="9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pt-BR" sz="900" dirty="0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Serializable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Perfil</a:t>
            </a:r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[</a:t>
            </a:r>
            <a:r>
              <a:rPr lang="pt-BR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JsonInclude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TipoPerfil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TipoPerfil</a:t>
            </a:r>
            <a:r>
              <a:rPr lang="pt-BR" sz="9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Perfil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TipoPerfil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tipoPerfil</a:t>
            </a:r>
            <a:r>
              <a:rPr lang="pt-BR" sz="9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   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TipoPerfil=tipoPerfil;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bool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ok(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form</a:t>
            </a:r>
            <a:r>
              <a:rPr lang="pt-BR" sz="9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  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switch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(TipoPerfil)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TipoPerfil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.TMedico: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Permissao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.OkMedico(form);  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TipoPerfil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.TAdministrador :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Permissao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.OkAdministrador(form);  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TipoPerfil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.TDesenvolvedor: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 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throw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ArgumentException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"Erro de </a:t>
            </a:r>
            <a:r>
              <a:rPr lang="pt-BR" sz="9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Sistema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Perfil não existe!"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             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nomeForm</a:t>
            </a:r>
            <a:r>
              <a:rPr lang="pt-BR" sz="9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9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""</a:t>
            </a:r>
            <a:r>
              <a:rPr lang="pt-BR" sz="9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[</a:t>
            </a:r>
            <a:r>
              <a:rPr lang="pt-BR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JsonIgnore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bool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okMedico  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9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pt-BR" sz="9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   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Permissao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.OkMedico(nomeForm</a:t>
            </a:r>
            <a:r>
              <a:rPr lang="pt-BR" sz="9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     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[</a:t>
            </a:r>
            <a:r>
              <a:rPr lang="pt-BR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JsonIgnore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bool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okDesenvolevedor </a:t>
            </a:r>
            <a:r>
              <a:rPr lang="pt-BR" sz="9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 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9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pt-BR" sz="9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9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   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 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[</a:t>
            </a:r>
            <a:r>
              <a:rPr lang="pt-BR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JsonIgnore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bool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okAdministrador </a:t>
            </a:r>
            <a:r>
              <a:rPr lang="pt-BR" sz="9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 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9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pt-BR" sz="9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Permissao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.OkAdministrador(nomeForm);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 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[</a:t>
            </a:r>
            <a:r>
              <a:rPr lang="pt-BR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JsonIgnore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bool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okPaciente {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pt-BR" sz="9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[</a:t>
            </a:r>
            <a:r>
              <a:rPr lang="pt-BR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JsonIgnore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bool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okAtendente {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pt-BR" sz="9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        </a:t>
            </a:r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245932" y="3460047"/>
            <a:ext cx="3225684" cy="1938992"/>
          </a:xfrm>
          <a:prstGeom prst="rect">
            <a:avLst/>
          </a:prstGeom>
          <a:solidFill>
            <a:schemeClr val="tx1"/>
          </a:solidFill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</a:t>
            </a:r>
            <a:r>
              <a:rPr lang="pt-B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Serializable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enum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TipoPerfil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TMedico,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TPaciente,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TAdministrador,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TDesenvolvedor,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TVisitante,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TFuncionario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275536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11317289" cy="1400530"/>
          </a:xfrm>
        </p:spPr>
        <p:txBody>
          <a:bodyPr/>
          <a:lstStyle/>
          <a:p>
            <a:r>
              <a:rPr lang="pt-BR" dirty="0" smtClean="0"/>
              <a:t>A Classe Permissao (Para ser completada)</a:t>
            </a:r>
            <a:endParaRPr lang="pt-BR" dirty="0"/>
          </a:p>
        </p:txBody>
      </p:sp>
      <p:sp>
        <p:nvSpPr>
          <p:cNvPr id="4" name="Rectangle 3"/>
          <p:cNvSpPr/>
          <p:nvPr/>
        </p:nvSpPr>
        <p:spPr>
          <a:xfrm>
            <a:off x="368300" y="1152983"/>
            <a:ext cx="11176000" cy="532453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Permissao</a:t>
            </a:r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       </a:t>
            </a:r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readonly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HashSet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PermissoesMedico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HashSet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</a:t>
            </a:r>
            <a:r>
              <a:rPr lang="pt-BR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StringComparer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.OrdinalIgnoreCase</a:t>
            </a:r>
            <a:r>
              <a:rPr lang="pt-BR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  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"formDadosPaciente"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"formCadastroPaciente"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           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readonly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HashSet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PermissoesAdministrador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HashSet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</a:t>
            </a:r>
            <a:r>
              <a:rPr lang="pt-BR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StringComparer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.OrdinalIgnoreCase</a:t>
            </a:r>
            <a:r>
              <a:rPr lang="pt-BR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 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"formDadosPaciente"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"formCadastroUsuario"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"formCadastroPaciente"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bool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OkMedico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form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pt-BR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(form ==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||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.IsNullOrWhiteSpace(form))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PermissoesMedico.Contains(form</a:t>
            </a:r>
            <a:r>
              <a:rPr lang="pt-BR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bool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OkAdministrador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form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pt-BR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(form ==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||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.IsNullOrWhiteSpace(form))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PermissoesAdministrador.Contains(form);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151956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65021"/>
          </a:xfrm>
        </p:spPr>
        <p:txBody>
          <a:bodyPr/>
          <a:lstStyle/>
          <a:p>
            <a:r>
              <a:rPr lang="pt-BR" dirty="0" smtClean="0"/>
              <a:t>O Json gerado serializando Usuario</a:t>
            </a:r>
            <a:endParaRPr lang="pt-BR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089" y="1772341"/>
            <a:ext cx="7779284" cy="413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430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TP – Noite – 14/10/26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839" y="1152983"/>
            <a:ext cx="11518084" cy="5084482"/>
          </a:xfrm>
        </p:spPr>
        <p:txBody>
          <a:bodyPr>
            <a:normAutofit fontScale="85000" lnSpcReduction="10000"/>
          </a:bodyPr>
          <a:lstStyle/>
          <a:p>
            <a:r>
              <a:rPr lang="pt-BR" dirty="0" smtClean="0"/>
              <a:t>Pegue na Rede, na pasta G, o projeto já iniciado com algumas classes já codificadas</a:t>
            </a:r>
          </a:p>
          <a:p>
            <a:r>
              <a:rPr lang="pt-BR" dirty="0" smtClean="0"/>
              <a:t>Rode e entenda o Teste</a:t>
            </a:r>
          </a:p>
          <a:p>
            <a:r>
              <a:rPr lang="pt-BR" dirty="0" smtClean="0"/>
              <a:t>Criar uma nova view de CadastroDeUsuarios (E o Controller e Model necessários) (não altere o form de teste – Crie um novo)</a:t>
            </a:r>
          </a:p>
          <a:p>
            <a:r>
              <a:rPr lang="pt-BR" dirty="0" smtClean="0"/>
              <a:t>Colocar no menu de abertura um novo link para o CadastroDeUsuarios </a:t>
            </a:r>
          </a:p>
          <a:p>
            <a:r>
              <a:rPr lang="pt-BR" dirty="0" smtClean="0"/>
              <a:t>Na view, montar os campos necessários para cadastrar os campos: (Com busca, edição e deleção)</a:t>
            </a:r>
          </a:p>
          <a:p>
            <a:pPr lvl="1"/>
            <a:r>
              <a:rPr lang="pt-BR" dirty="0" smtClean="0"/>
              <a:t>Nome</a:t>
            </a:r>
          </a:p>
          <a:p>
            <a:pPr lvl="1"/>
            <a:r>
              <a:rPr lang="pt-BR" dirty="0" smtClean="0"/>
              <a:t>Sobrenome</a:t>
            </a:r>
          </a:p>
          <a:p>
            <a:pPr lvl="1"/>
            <a:r>
              <a:rPr lang="pt-BR" dirty="0" smtClean="0"/>
              <a:t>Email</a:t>
            </a:r>
          </a:p>
          <a:p>
            <a:pPr lvl="1"/>
            <a:r>
              <a:rPr lang="pt-BR" dirty="0" smtClean="0"/>
              <a:t>Cpf</a:t>
            </a:r>
          </a:p>
          <a:p>
            <a:pPr lvl="1"/>
            <a:r>
              <a:rPr lang="pt-BR" dirty="0" smtClean="0"/>
              <a:t>Perfil (Fixo, </a:t>
            </a:r>
            <a:r>
              <a:rPr lang="pt-BR" dirty="0"/>
              <a:t>Perfil perfil = new Perfil(TipoPerfil.TAdministrador</a:t>
            </a:r>
            <a:r>
              <a:rPr lang="pt-BR" dirty="0" smtClean="0"/>
              <a:t>)   </a:t>
            </a:r>
            <a:endParaRPr lang="pt-BR" dirty="0"/>
          </a:p>
          <a:p>
            <a:r>
              <a:rPr lang="pt-BR" dirty="0" smtClean="0"/>
              <a:t>Fazer consistências de CPF e Email, utilizar os modais de avisos e/ou erros conforme o caso</a:t>
            </a:r>
          </a:p>
          <a:p>
            <a:r>
              <a:rPr lang="pt-BR" dirty="0" smtClean="0"/>
              <a:t>Copiar a tela do cadastro gerada e os aquivos de View, Controller e Model que você gerou e enviar para:</a:t>
            </a:r>
          </a:p>
          <a:p>
            <a:pPr marL="457200" lvl="1" indent="0">
              <a:buNone/>
            </a:pPr>
            <a:r>
              <a:rPr lang="pt-BR" sz="2100" b="1" dirty="0" smtClean="0">
                <a:hlinkClick r:id="rId2"/>
              </a:rPr>
              <a:t>halrangel@yahoo.com.br</a:t>
            </a:r>
            <a:r>
              <a:rPr lang="pt-BR" sz="2100" b="1" dirty="0" smtClean="0"/>
              <a:t>, Assunto: Clinica P1-Noite-Nome do aluno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26814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7214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30571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212</TotalTime>
  <Words>1150</Words>
  <Application>Microsoft Office PowerPoint</Application>
  <PresentationFormat>Widescreen</PresentationFormat>
  <Paragraphs>234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Cascadia Mono</vt:lpstr>
      <vt:lpstr>Century Gothic</vt:lpstr>
      <vt:lpstr>Wingdings 3</vt:lpstr>
      <vt:lpstr>Ion</vt:lpstr>
      <vt:lpstr>Clínica de Emagrecimento</vt:lpstr>
      <vt:lpstr>O Diagrama de classes *</vt:lpstr>
      <vt:lpstr>A Classe Pessoa</vt:lpstr>
      <vt:lpstr>A Classe Cpf (Simplificada)</vt:lpstr>
      <vt:lpstr>A Classe Email (Simplificada)</vt:lpstr>
      <vt:lpstr>A Classe Usuário</vt:lpstr>
      <vt:lpstr>A Classe Perfil (Para ser completada)</vt:lpstr>
      <vt:lpstr>A Classe Permissao (Para ser completada)</vt:lpstr>
      <vt:lpstr>O Json gerado serializando Usuario</vt:lpstr>
      <vt:lpstr>TP – Noite – 14/10/26</vt:lpstr>
      <vt:lpstr>PowerPoint Presentation</vt:lpstr>
      <vt:lpstr>PowerPoint Presentation</vt:lpstr>
    </vt:vector>
  </TitlesOfParts>
  <Company>Intertek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Clínica de Emagrecimento</dc:title>
  <dc:creator>Helio Rangel</dc:creator>
  <cp:lastModifiedBy>Helio Rangel</cp:lastModifiedBy>
  <cp:revision>27</cp:revision>
  <dcterms:created xsi:type="dcterms:W3CDTF">2026-10-13T19:00:32Z</dcterms:created>
  <dcterms:modified xsi:type="dcterms:W3CDTF">2026-10-14T20:43:41Z</dcterms:modified>
</cp:coreProperties>
</file>